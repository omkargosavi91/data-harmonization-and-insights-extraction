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58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4160405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1307494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348679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D32962-195F-4917-914D-D7860056D49C}"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26929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D32962-195F-4917-914D-D7860056D49C}" type="datetimeFigureOut">
              <a:rPr lang="en-IN" smtClean="0"/>
              <a:t>13-01-2025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3619332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167979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925178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373235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D32962-195F-4917-914D-D7860056D49C}"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1334092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D32962-195F-4917-914D-D7860056D49C}" type="datetimeFigureOut">
              <a:rPr lang="en-IN" smtClean="0"/>
              <a:t>13-01-2025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152173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11592033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288644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2554071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759059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2924704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4753799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D32962-195F-4917-914D-D7860056D49C}" type="datetimeFigureOut">
              <a:rPr lang="en-IN" smtClean="0"/>
              <a:t>13-01-2025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943547-3204-47D3-AE56-62AE40C3D522}" type="slidenum">
              <a:rPr lang="en-IN" smtClean="0"/>
              <a:t>‹#›</a:t>
            </a:fld>
            <a:endParaRPr lang="en-IN"/>
          </a:p>
        </p:txBody>
      </p:sp>
    </p:spTree>
    <p:extLst>
      <p:ext uri="{BB962C8B-B14F-4D97-AF65-F5344CB8AC3E}">
        <p14:creationId xmlns:p14="http://schemas.microsoft.com/office/powerpoint/2010/main" val="318621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5D32962-195F-4917-914D-D7860056D49C}" type="datetimeFigureOut">
              <a:rPr lang="en-IN" smtClean="0"/>
              <a:t>13-01-2025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9943547-3204-47D3-AE56-62AE40C3D522}" type="slidenum">
              <a:rPr lang="en-IN" smtClean="0"/>
              <a:t>‹#›</a:t>
            </a:fld>
            <a:endParaRPr lang="en-IN"/>
          </a:p>
        </p:txBody>
      </p:sp>
    </p:spTree>
    <p:extLst>
      <p:ext uri="{BB962C8B-B14F-4D97-AF65-F5344CB8AC3E}">
        <p14:creationId xmlns:p14="http://schemas.microsoft.com/office/powerpoint/2010/main" val="238553236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80604-28EA-F7B0-0AA1-25E891AA0C02}"/>
              </a:ext>
            </a:extLst>
          </p:cNvPr>
          <p:cNvSpPr>
            <a:spLocks noGrp="1"/>
          </p:cNvSpPr>
          <p:nvPr>
            <p:ph type="ctrTitle"/>
          </p:nvPr>
        </p:nvSpPr>
        <p:spPr>
          <a:xfrm>
            <a:off x="0" y="299403"/>
            <a:ext cx="12192000" cy="2387600"/>
          </a:xfrm>
        </p:spPr>
        <p:txBody>
          <a:bodyPr>
            <a:normAutofit/>
          </a:bodyPr>
          <a:lstStyle/>
          <a:p>
            <a:pPr algn="ctr"/>
            <a:r>
              <a:rPr lang="en-US" b="1" dirty="0">
                <a:solidFill>
                  <a:srgbClr val="FFC000"/>
                </a:solidFill>
              </a:rPr>
              <a:t>Data Harmonization </a:t>
            </a:r>
            <a:br>
              <a:rPr lang="en-US" b="1" dirty="0">
                <a:solidFill>
                  <a:srgbClr val="FFC000"/>
                </a:solidFill>
              </a:rPr>
            </a:br>
            <a:r>
              <a:rPr lang="en-US" b="1" dirty="0">
                <a:solidFill>
                  <a:srgbClr val="FFC000"/>
                </a:solidFill>
              </a:rPr>
              <a:t>and Insights Extraction</a:t>
            </a:r>
            <a:endParaRPr lang="en-IN" b="1" dirty="0">
              <a:solidFill>
                <a:srgbClr val="FFC000"/>
              </a:solidFill>
            </a:endParaRPr>
          </a:p>
        </p:txBody>
      </p:sp>
      <p:sp>
        <p:nvSpPr>
          <p:cNvPr id="4" name="Title 1">
            <a:extLst>
              <a:ext uri="{FF2B5EF4-FFF2-40B4-BE49-F238E27FC236}">
                <a16:creationId xmlns:a16="http://schemas.microsoft.com/office/drawing/2014/main" id="{D62E294B-A096-0C76-3D22-E2272543247F}"/>
              </a:ext>
            </a:extLst>
          </p:cNvPr>
          <p:cNvSpPr txBox="1">
            <a:spLocks/>
          </p:cNvSpPr>
          <p:nvPr/>
        </p:nvSpPr>
        <p:spPr>
          <a:xfrm>
            <a:off x="467360" y="2235200"/>
            <a:ext cx="12192000" cy="23876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5000" b="1" dirty="0">
                <a:solidFill>
                  <a:srgbClr val="FFC000"/>
                </a:solidFill>
              </a:rPr>
              <a:t>Created by :- Omkar V. </a:t>
            </a:r>
            <a:r>
              <a:rPr lang="en-US" sz="5000" b="1" dirty="0" err="1">
                <a:solidFill>
                  <a:srgbClr val="FFC000"/>
                </a:solidFill>
              </a:rPr>
              <a:t>Gosavi</a:t>
            </a:r>
            <a:endParaRPr lang="en-IN" sz="5000" b="1" dirty="0">
              <a:solidFill>
                <a:srgbClr val="FFC000"/>
              </a:solidFill>
            </a:endParaRPr>
          </a:p>
        </p:txBody>
      </p:sp>
    </p:spTree>
    <p:extLst>
      <p:ext uri="{BB962C8B-B14F-4D97-AF65-F5344CB8AC3E}">
        <p14:creationId xmlns:p14="http://schemas.microsoft.com/office/powerpoint/2010/main" val="1731808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E7F56-396D-047F-0181-3B5659088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91DEB0-EF63-A97F-A74B-38A89CB901A2}"/>
              </a:ext>
            </a:extLst>
          </p:cNvPr>
          <p:cNvSpPr>
            <a:spLocks noGrp="1"/>
          </p:cNvSpPr>
          <p:nvPr>
            <p:ph type="ctrTitle"/>
          </p:nvPr>
        </p:nvSpPr>
        <p:spPr>
          <a:xfrm>
            <a:off x="0" y="299403"/>
            <a:ext cx="12192000" cy="1376997"/>
          </a:xfrm>
        </p:spPr>
        <p:txBody>
          <a:bodyPr>
            <a:normAutofit/>
          </a:bodyPr>
          <a:lstStyle/>
          <a:p>
            <a:pPr algn="ctr"/>
            <a:r>
              <a:rPr lang="en-US" b="1" dirty="0">
                <a:solidFill>
                  <a:srgbClr val="FFC000"/>
                </a:solidFill>
              </a:rPr>
              <a:t>Index</a:t>
            </a:r>
            <a:endParaRPr lang="en-IN" b="1" dirty="0">
              <a:solidFill>
                <a:srgbClr val="FFC000"/>
              </a:solidFill>
            </a:endParaRPr>
          </a:p>
        </p:txBody>
      </p:sp>
      <p:sp>
        <p:nvSpPr>
          <p:cNvPr id="4" name="Title 1">
            <a:extLst>
              <a:ext uri="{FF2B5EF4-FFF2-40B4-BE49-F238E27FC236}">
                <a16:creationId xmlns:a16="http://schemas.microsoft.com/office/drawing/2014/main" id="{5EBDF0D2-3256-8EC1-A8B8-55F163135981}"/>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Wingdings" panose="05000000000000000000" pitchFamily="2" charset="2"/>
              <a:buChar char="v"/>
            </a:pPr>
            <a:r>
              <a:rPr lang="en-US" sz="4500" b="1" dirty="0">
                <a:solidFill>
                  <a:srgbClr val="00B0F0"/>
                </a:solidFill>
              </a:rPr>
              <a:t>The project overview and objectives. </a:t>
            </a:r>
          </a:p>
          <a:p>
            <a:pPr marL="571500" indent="-571500">
              <a:buFont typeface="Wingdings" panose="05000000000000000000" pitchFamily="2" charset="2"/>
              <a:buChar char="v"/>
            </a:pPr>
            <a:r>
              <a:rPr lang="en-US" sz="4500" b="1" dirty="0">
                <a:solidFill>
                  <a:srgbClr val="00B0F0"/>
                </a:solidFill>
              </a:rPr>
              <a:t>Data wrangling and cleaning steps.</a:t>
            </a:r>
          </a:p>
          <a:p>
            <a:pPr marL="571500" indent="-571500">
              <a:buFont typeface="Wingdings" panose="05000000000000000000" pitchFamily="2" charset="2"/>
              <a:buChar char="v"/>
            </a:pPr>
            <a:r>
              <a:rPr lang="en-US" sz="4500" b="1" dirty="0">
                <a:solidFill>
                  <a:srgbClr val="00B0F0"/>
                </a:solidFill>
              </a:rPr>
              <a:t>Key challenges and how they were addressed.</a:t>
            </a:r>
          </a:p>
          <a:p>
            <a:pPr marL="571500" indent="-571500">
              <a:buFont typeface="Wingdings" panose="05000000000000000000" pitchFamily="2" charset="2"/>
              <a:buChar char="v"/>
            </a:pPr>
            <a:r>
              <a:rPr lang="en-US" sz="4500" b="1" dirty="0">
                <a:solidFill>
                  <a:srgbClr val="00B0F0"/>
                </a:solidFill>
              </a:rPr>
              <a:t>Insights and findings from the dataset.</a:t>
            </a:r>
            <a:endParaRPr lang="en-IN" sz="4500" b="1" dirty="0">
              <a:solidFill>
                <a:srgbClr val="00B0F0"/>
              </a:solidFill>
            </a:endParaRPr>
          </a:p>
        </p:txBody>
      </p:sp>
    </p:spTree>
    <p:extLst>
      <p:ext uri="{BB962C8B-B14F-4D97-AF65-F5344CB8AC3E}">
        <p14:creationId xmlns:p14="http://schemas.microsoft.com/office/powerpoint/2010/main" val="372370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5149-18EB-3C32-CD6A-798967956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2E1AE6-7A7C-D16B-1E2C-3320F86E98CA}"/>
              </a:ext>
            </a:extLst>
          </p:cNvPr>
          <p:cNvSpPr>
            <a:spLocks noGrp="1"/>
          </p:cNvSpPr>
          <p:nvPr>
            <p:ph type="ctrTitle"/>
          </p:nvPr>
        </p:nvSpPr>
        <p:spPr>
          <a:xfrm>
            <a:off x="0" y="701749"/>
            <a:ext cx="12192000" cy="1376997"/>
          </a:xfrm>
        </p:spPr>
        <p:txBody>
          <a:bodyPr>
            <a:normAutofit fontScale="90000"/>
          </a:bodyPr>
          <a:lstStyle/>
          <a:p>
            <a:pPr algn="ctr"/>
            <a:r>
              <a:rPr lang="en-US" sz="5600" b="1" dirty="0">
                <a:solidFill>
                  <a:srgbClr val="FFC000"/>
                </a:solidFill>
              </a:rPr>
              <a:t>The project overview and objectives.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728354BC-C331-250E-3542-C43DFF1682A5}"/>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sp>
        <p:nvSpPr>
          <p:cNvPr id="5" name="TextBox 4">
            <a:extLst>
              <a:ext uri="{FF2B5EF4-FFF2-40B4-BE49-F238E27FC236}">
                <a16:creationId xmlns:a16="http://schemas.microsoft.com/office/drawing/2014/main" id="{E641F8C4-72CA-B9E7-067F-7DDC7CFCFF2F}"/>
              </a:ext>
            </a:extLst>
          </p:cNvPr>
          <p:cNvSpPr txBox="1"/>
          <p:nvPr/>
        </p:nvSpPr>
        <p:spPr>
          <a:xfrm>
            <a:off x="223284" y="1915264"/>
            <a:ext cx="11968716" cy="4662815"/>
          </a:xfrm>
          <a:prstGeom prst="rect">
            <a:avLst/>
          </a:prstGeom>
          <a:noFill/>
        </p:spPr>
        <p:txBody>
          <a:bodyPr wrap="square">
            <a:spAutoFit/>
          </a:bodyPr>
          <a:lstStyle/>
          <a:p>
            <a:r>
              <a:rPr lang="en-IN" sz="2500" b="1" dirty="0">
                <a:solidFill>
                  <a:srgbClr val="00B0F0"/>
                </a:solidFill>
              </a:rPr>
              <a:t>Steps to workout the project:-</a:t>
            </a:r>
          </a:p>
          <a:p>
            <a:endParaRPr lang="en-IN" dirty="0"/>
          </a:p>
          <a:p>
            <a:pPr marL="342900" indent="-342900">
              <a:buAutoNum type="arabicParenR"/>
            </a:pPr>
            <a:r>
              <a:rPr lang="en-IN" sz="2000" dirty="0">
                <a:solidFill>
                  <a:srgbClr val="92D050"/>
                </a:solidFill>
              </a:rPr>
              <a:t>Load datasets into Python – Acquire data through following path. dataset1 = </a:t>
            </a:r>
            <a:r>
              <a:rPr lang="en-IN" sz="2000" dirty="0" err="1">
                <a:solidFill>
                  <a:srgbClr val="92D050"/>
                </a:solidFill>
              </a:rPr>
              <a:t>pd.read_excel</a:t>
            </a:r>
            <a:r>
              <a:rPr lang="en-IN" sz="2000" dirty="0">
                <a:solidFill>
                  <a:srgbClr val="92D050"/>
                </a:solidFill>
              </a:rPr>
              <a:t>(</a:t>
            </a:r>
            <a:r>
              <a:rPr lang="en-IN" sz="2000" dirty="0" err="1">
                <a:solidFill>
                  <a:srgbClr val="92D050"/>
                </a:solidFill>
              </a:rPr>
              <a:t>r'C</a:t>
            </a:r>
            <a:r>
              <a:rPr lang="en-IN" sz="2000" dirty="0">
                <a:solidFill>
                  <a:srgbClr val="92D050"/>
                </a:solidFill>
              </a:rPr>
              <a:t>:\Users\HP\Desktop\Project 2\dataset_1.xlsx’). Load another datasets though this way.</a:t>
            </a:r>
          </a:p>
          <a:p>
            <a:pPr marL="342900" indent="-342900">
              <a:buAutoNum type="arabicParenR"/>
            </a:pPr>
            <a:r>
              <a:rPr lang="en-US" sz="2000" dirty="0">
                <a:solidFill>
                  <a:srgbClr val="92D050"/>
                </a:solidFill>
              </a:rPr>
              <a:t>Inspect and explore data structures using .info() and .head().</a:t>
            </a:r>
            <a:r>
              <a:rPr lang="en-IN" sz="2000" dirty="0">
                <a:solidFill>
                  <a:srgbClr val="92D050"/>
                </a:solidFill>
              </a:rPr>
              <a:t> – Through this path, you will get the info about the dataset. dataset1.info(). Here you will get the details like Column types, Count, data types etc. Similarly with remaining datasets and for head, the following path will be applied dataset1.head(). Through this path you will get first 5 rows. It is just like a header in the word file.</a:t>
            </a:r>
          </a:p>
          <a:p>
            <a:pPr marL="342900" indent="-342900">
              <a:buAutoNum type="arabicParenR"/>
            </a:pPr>
            <a:r>
              <a:rPr lang="en-IN" sz="2000" dirty="0">
                <a:solidFill>
                  <a:srgbClr val="92D050"/>
                </a:solidFill>
              </a:rPr>
              <a:t> Merge all the datasets and get the overview like null, handling missing value by using bf function, formulas to get outlier detection.</a:t>
            </a:r>
          </a:p>
          <a:p>
            <a:endParaRPr lang="en-IN" dirty="0"/>
          </a:p>
          <a:p>
            <a:endParaRPr lang="en-IN" dirty="0"/>
          </a:p>
          <a:p>
            <a:r>
              <a:rPr lang="en-IN" dirty="0"/>
              <a:t> </a:t>
            </a:r>
          </a:p>
        </p:txBody>
      </p:sp>
    </p:spTree>
    <p:extLst>
      <p:ext uri="{BB962C8B-B14F-4D97-AF65-F5344CB8AC3E}">
        <p14:creationId xmlns:p14="http://schemas.microsoft.com/office/powerpoint/2010/main" val="1992533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2E98-AA84-3770-254B-5B085C554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2EA639-427C-4B98-677A-ACAE8AEEFB92}"/>
              </a:ext>
            </a:extLst>
          </p:cNvPr>
          <p:cNvSpPr>
            <a:spLocks noGrp="1"/>
          </p:cNvSpPr>
          <p:nvPr>
            <p:ph type="ctrTitle"/>
          </p:nvPr>
        </p:nvSpPr>
        <p:spPr>
          <a:xfrm>
            <a:off x="-223284" y="1456661"/>
            <a:ext cx="12192000" cy="1376997"/>
          </a:xfrm>
        </p:spPr>
        <p:txBody>
          <a:bodyPr>
            <a:normAutofit fontScale="90000"/>
          </a:bodyPr>
          <a:lstStyle/>
          <a:p>
            <a:pPr algn="ctr"/>
            <a:r>
              <a:rPr lang="en-US" sz="5600" b="1" dirty="0">
                <a:solidFill>
                  <a:srgbClr val="FFC000"/>
                </a:solidFill>
              </a:rPr>
              <a:t>Data wrangling and cleaning steps.</a:t>
            </a:r>
            <a:br>
              <a:rPr lang="en-US" sz="5600" b="1" dirty="0">
                <a:solidFill>
                  <a:srgbClr val="FFC000"/>
                </a:solidFill>
              </a:rPr>
            </a:br>
            <a:r>
              <a:rPr lang="en-US" sz="5600" b="1" dirty="0">
                <a:solidFill>
                  <a:srgbClr val="FFC000"/>
                </a:solidFill>
              </a:rPr>
              <a:t>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FF285882-F2E9-F216-0CA9-97613AA7721F}"/>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sp>
        <p:nvSpPr>
          <p:cNvPr id="5" name="TextBox 4">
            <a:extLst>
              <a:ext uri="{FF2B5EF4-FFF2-40B4-BE49-F238E27FC236}">
                <a16:creationId xmlns:a16="http://schemas.microsoft.com/office/drawing/2014/main" id="{A6E64820-83EC-6A81-8360-695C862356C8}"/>
              </a:ext>
            </a:extLst>
          </p:cNvPr>
          <p:cNvSpPr txBox="1"/>
          <p:nvPr/>
        </p:nvSpPr>
        <p:spPr>
          <a:xfrm>
            <a:off x="223284" y="1915264"/>
            <a:ext cx="11968716" cy="4139595"/>
          </a:xfrm>
          <a:prstGeom prst="rect">
            <a:avLst/>
          </a:prstGeom>
          <a:noFill/>
        </p:spPr>
        <p:txBody>
          <a:bodyPr wrap="square">
            <a:spAutoFit/>
          </a:bodyPr>
          <a:lstStyle/>
          <a:p>
            <a:r>
              <a:rPr lang="en-IN" sz="2500" b="1" dirty="0">
                <a:solidFill>
                  <a:srgbClr val="00B0F0"/>
                </a:solidFill>
              </a:rPr>
              <a:t>Steps for data wrangling :-</a:t>
            </a:r>
          </a:p>
          <a:p>
            <a:endParaRPr lang="en-IN" dirty="0"/>
          </a:p>
          <a:p>
            <a:pPr marL="342900" indent="-342900">
              <a:buAutoNum type="arabicParenR"/>
            </a:pPr>
            <a:r>
              <a:rPr lang="en-IN" sz="2000" dirty="0">
                <a:solidFill>
                  <a:srgbClr val="92D050"/>
                </a:solidFill>
              </a:rPr>
              <a:t>Merge dataset 1 &amp; 2 through this path. – </a:t>
            </a:r>
          </a:p>
          <a:p>
            <a:r>
              <a:rPr lang="en-US" sz="2000" dirty="0">
                <a:solidFill>
                  <a:srgbClr val="92D050"/>
                </a:solidFill>
              </a:rPr>
              <a:t>merge_1_and_2 = </a:t>
            </a:r>
            <a:r>
              <a:rPr lang="en-US" sz="2000" dirty="0" err="1">
                <a:solidFill>
                  <a:srgbClr val="92D050"/>
                </a:solidFill>
              </a:rPr>
              <a:t>pd.merge</a:t>
            </a:r>
            <a:r>
              <a:rPr lang="en-US" sz="2000" dirty="0">
                <a:solidFill>
                  <a:srgbClr val="92D050"/>
                </a:solidFill>
              </a:rPr>
              <a:t>(dataset1,dataset2,on='</a:t>
            </a:r>
            <a:r>
              <a:rPr lang="en-US" sz="2000" dirty="0" err="1">
                <a:solidFill>
                  <a:srgbClr val="92D050"/>
                </a:solidFill>
              </a:rPr>
              <a:t>instant',how</a:t>
            </a:r>
            <a:r>
              <a:rPr lang="en-US" sz="2000" dirty="0">
                <a:solidFill>
                  <a:srgbClr val="92D050"/>
                </a:solidFill>
              </a:rPr>
              <a:t> = 'inner’)</a:t>
            </a:r>
          </a:p>
          <a:p>
            <a:endParaRPr lang="en-US" sz="2000" dirty="0">
              <a:solidFill>
                <a:srgbClr val="92D050"/>
              </a:solidFill>
            </a:endParaRPr>
          </a:p>
          <a:p>
            <a:r>
              <a:rPr lang="en-US" sz="2000" dirty="0">
                <a:solidFill>
                  <a:srgbClr val="92D050"/>
                </a:solidFill>
              </a:rPr>
              <a:t>2) Find out the null values if any in the merged datasets – </a:t>
            </a:r>
          </a:p>
          <a:p>
            <a:r>
              <a:rPr lang="en-US" sz="2000" dirty="0">
                <a:solidFill>
                  <a:srgbClr val="92D050"/>
                </a:solidFill>
              </a:rPr>
              <a:t>merge_1_and_2.isnull().sum()</a:t>
            </a:r>
          </a:p>
          <a:p>
            <a:endParaRPr lang="en-US" sz="2000" dirty="0">
              <a:solidFill>
                <a:srgbClr val="92D050"/>
              </a:solidFill>
            </a:endParaRPr>
          </a:p>
          <a:p>
            <a:r>
              <a:rPr lang="en-US" sz="2000" dirty="0">
                <a:solidFill>
                  <a:srgbClr val="92D050"/>
                </a:solidFill>
              </a:rPr>
              <a:t>3) If you found the null value the fill it by this formula</a:t>
            </a:r>
          </a:p>
          <a:p>
            <a:r>
              <a:rPr lang="en-US" sz="2000" dirty="0" err="1">
                <a:solidFill>
                  <a:srgbClr val="92D050"/>
                </a:solidFill>
              </a:rPr>
              <a:t>bfill</a:t>
            </a:r>
            <a:r>
              <a:rPr lang="en-US" sz="2000" dirty="0">
                <a:solidFill>
                  <a:srgbClr val="92D050"/>
                </a:solidFill>
              </a:rPr>
              <a:t> = merge_1_and_2.fillna(method='</a:t>
            </a:r>
            <a:r>
              <a:rPr lang="en-US" sz="2000" dirty="0" err="1">
                <a:solidFill>
                  <a:srgbClr val="92D050"/>
                </a:solidFill>
              </a:rPr>
              <a:t>bfill</a:t>
            </a:r>
            <a:r>
              <a:rPr lang="en-US" sz="2000" dirty="0">
                <a:solidFill>
                  <a:srgbClr val="92D050"/>
                </a:solidFill>
              </a:rPr>
              <a:t>')</a:t>
            </a:r>
            <a:r>
              <a:rPr lang="en-US" sz="2000" dirty="0" err="1">
                <a:solidFill>
                  <a:srgbClr val="92D050"/>
                </a:solidFill>
              </a:rPr>
              <a:t>bfill.isnull</a:t>
            </a:r>
            <a:r>
              <a:rPr lang="en-US" sz="2000" dirty="0">
                <a:solidFill>
                  <a:srgbClr val="92D050"/>
                </a:solidFill>
              </a:rPr>
              <a:t>().sum()</a:t>
            </a:r>
          </a:p>
          <a:p>
            <a:endParaRPr lang="en-US" sz="2000" dirty="0">
              <a:solidFill>
                <a:srgbClr val="92D050"/>
              </a:solidFill>
            </a:endParaRPr>
          </a:p>
          <a:p>
            <a:r>
              <a:rPr lang="en-US" sz="2000" b="1" dirty="0">
                <a:solidFill>
                  <a:srgbClr val="E4583C"/>
                </a:solidFill>
              </a:rPr>
              <a:t>Key challenges - We don’t know about the perfect null values so we have used the above backward fill formula to fill the empty items.</a:t>
            </a:r>
            <a:r>
              <a:rPr lang="en-US" sz="2000" b="1" dirty="0">
                <a:solidFill>
                  <a:srgbClr val="92D050"/>
                </a:solidFill>
              </a:rPr>
              <a:t> </a:t>
            </a:r>
            <a:endParaRPr lang="en-IN" sz="2000" b="1" dirty="0">
              <a:solidFill>
                <a:srgbClr val="92D050"/>
              </a:solidFill>
            </a:endParaRPr>
          </a:p>
        </p:txBody>
      </p:sp>
    </p:spTree>
    <p:extLst>
      <p:ext uri="{BB962C8B-B14F-4D97-AF65-F5344CB8AC3E}">
        <p14:creationId xmlns:p14="http://schemas.microsoft.com/office/powerpoint/2010/main" val="1370782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F5BE9-ADF8-45BE-BBAD-B66484B615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5A7C1-EFAF-DAEC-A06D-5F3FEFA49E07}"/>
              </a:ext>
            </a:extLst>
          </p:cNvPr>
          <p:cNvSpPr>
            <a:spLocks noGrp="1"/>
          </p:cNvSpPr>
          <p:nvPr>
            <p:ph type="ctrTitle"/>
          </p:nvPr>
        </p:nvSpPr>
        <p:spPr>
          <a:xfrm>
            <a:off x="-223284" y="2052003"/>
            <a:ext cx="12192000" cy="1376997"/>
          </a:xfrm>
        </p:spPr>
        <p:txBody>
          <a:bodyPr>
            <a:normAutofit fontScale="90000"/>
          </a:bodyPr>
          <a:lstStyle/>
          <a:p>
            <a:pPr algn="ctr"/>
            <a:r>
              <a:rPr lang="en-US" sz="5600" b="1" dirty="0">
                <a:solidFill>
                  <a:srgbClr val="FFC000"/>
                </a:solidFill>
              </a:rPr>
              <a:t>Insights and findings from the dataset</a:t>
            </a:r>
            <a:br>
              <a:rPr lang="en-US" sz="1400" dirty="0"/>
            </a:br>
            <a:r>
              <a:rPr lang="en-US" sz="5600" b="1" dirty="0">
                <a:solidFill>
                  <a:srgbClr val="FFC000"/>
                </a:solidFill>
              </a:rPr>
              <a:t>.</a:t>
            </a:r>
            <a:br>
              <a:rPr lang="en-US" sz="5600" b="1" dirty="0">
                <a:solidFill>
                  <a:srgbClr val="FFC000"/>
                </a:solidFill>
              </a:rPr>
            </a:br>
            <a:r>
              <a:rPr lang="en-US" sz="5600" b="1" dirty="0">
                <a:solidFill>
                  <a:srgbClr val="FFC000"/>
                </a:solidFill>
              </a:rPr>
              <a:t>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BBFD8393-DDE5-360D-A61F-2671D1A8D70E}"/>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sp>
        <p:nvSpPr>
          <p:cNvPr id="5" name="TextBox 4">
            <a:extLst>
              <a:ext uri="{FF2B5EF4-FFF2-40B4-BE49-F238E27FC236}">
                <a16:creationId xmlns:a16="http://schemas.microsoft.com/office/drawing/2014/main" id="{1520FB90-A97D-8631-3E79-6127B20DE464}"/>
              </a:ext>
            </a:extLst>
          </p:cNvPr>
          <p:cNvSpPr txBox="1"/>
          <p:nvPr/>
        </p:nvSpPr>
        <p:spPr>
          <a:xfrm>
            <a:off x="223284" y="1915264"/>
            <a:ext cx="11968716" cy="4139595"/>
          </a:xfrm>
          <a:prstGeom prst="rect">
            <a:avLst/>
          </a:prstGeom>
          <a:noFill/>
        </p:spPr>
        <p:txBody>
          <a:bodyPr wrap="square">
            <a:spAutoFit/>
          </a:bodyPr>
          <a:lstStyle/>
          <a:p>
            <a:r>
              <a:rPr lang="en-IN" sz="2500" b="1" dirty="0">
                <a:solidFill>
                  <a:srgbClr val="00B0F0"/>
                </a:solidFill>
              </a:rPr>
              <a:t>We found the following :-</a:t>
            </a:r>
          </a:p>
          <a:p>
            <a:endParaRPr lang="en-IN" dirty="0"/>
          </a:p>
          <a:p>
            <a:pPr marL="342900" indent="-342900">
              <a:buAutoNum type="arabicParenR"/>
            </a:pPr>
            <a:r>
              <a:rPr lang="en-US" sz="2000" dirty="0">
                <a:solidFill>
                  <a:srgbClr val="92D050"/>
                </a:solidFill>
              </a:rPr>
              <a:t>We found some null values in merged data sets so we filled that with the help of backward fill formula.</a:t>
            </a:r>
          </a:p>
          <a:p>
            <a:pPr marL="342900" indent="-342900">
              <a:buAutoNum type="arabicParenR"/>
            </a:pPr>
            <a:r>
              <a:rPr lang="en-US" sz="2000" dirty="0">
                <a:solidFill>
                  <a:srgbClr val="92D050"/>
                </a:solidFill>
              </a:rPr>
              <a:t>Perform basic statistical analysis to evaluate with help of mean, median and mode, Upper value, Lower value, Percentile of 25</a:t>
            </a:r>
            <a:r>
              <a:rPr lang="en-US" sz="2000" baseline="30000" dirty="0">
                <a:solidFill>
                  <a:srgbClr val="92D050"/>
                </a:solidFill>
              </a:rPr>
              <a:t>th</a:t>
            </a:r>
            <a:r>
              <a:rPr lang="en-US" sz="2000" dirty="0">
                <a:solidFill>
                  <a:srgbClr val="92D050"/>
                </a:solidFill>
              </a:rPr>
              <a:t>, 50</a:t>
            </a:r>
            <a:r>
              <a:rPr lang="en-US" sz="2000" baseline="30000" dirty="0">
                <a:solidFill>
                  <a:srgbClr val="92D050"/>
                </a:solidFill>
              </a:rPr>
              <a:t>th</a:t>
            </a:r>
            <a:r>
              <a:rPr lang="en-US" sz="2000" dirty="0">
                <a:solidFill>
                  <a:srgbClr val="92D050"/>
                </a:solidFill>
              </a:rPr>
              <a:t>, 75</a:t>
            </a:r>
            <a:r>
              <a:rPr lang="en-US" sz="2000" baseline="30000" dirty="0">
                <a:solidFill>
                  <a:srgbClr val="92D050"/>
                </a:solidFill>
              </a:rPr>
              <a:t>th</a:t>
            </a:r>
            <a:r>
              <a:rPr lang="en-US" sz="2000" dirty="0">
                <a:solidFill>
                  <a:srgbClr val="92D050"/>
                </a:solidFill>
              </a:rPr>
              <a:t>, 100. Then we get the IQR of the dataset.</a:t>
            </a:r>
          </a:p>
          <a:p>
            <a:pPr marL="342900" indent="-342900">
              <a:buAutoNum type="arabicParenR"/>
            </a:pPr>
            <a:r>
              <a:rPr lang="en-US" sz="2000" dirty="0">
                <a:solidFill>
                  <a:srgbClr val="92D050"/>
                </a:solidFill>
              </a:rPr>
              <a:t>Perform detailed missing value analysis and outlier detection with the help of subplot and </a:t>
            </a:r>
            <a:r>
              <a:rPr lang="en-US" sz="2000" dirty="0" err="1">
                <a:solidFill>
                  <a:srgbClr val="92D050"/>
                </a:solidFill>
              </a:rPr>
              <a:t>distplot</a:t>
            </a:r>
            <a:r>
              <a:rPr lang="en-US" sz="2000" dirty="0">
                <a:solidFill>
                  <a:srgbClr val="92D050"/>
                </a:solidFill>
              </a:rPr>
              <a:t> formulas.</a:t>
            </a:r>
          </a:p>
          <a:p>
            <a:pPr marL="342900" indent="-342900">
              <a:buAutoNum type="arabicParenR"/>
            </a:pPr>
            <a:r>
              <a:rPr lang="en-US" sz="2000" dirty="0">
                <a:solidFill>
                  <a:srgbClr val="92D050"/>
                </a:solidFill>
              </a:rPr>
              <a:t>Analyze skewness of numerical columns with the help of this formula - dataset1['</a:t>
            </a:r>
            <a:r>
              <a:rPr lang="en-US" sz="2000" dirty="0" err="1">
                <a:solidFill>
                  <a:srgbClr val="92D050"/>
                </a:solidFill>
              </a:rPr>
              <a:t>weathersit</a:t>
            </a:r>
            <a:r>
              <a:rPr lang="en-US" sz="2000" dirty="0">
                <a:solidFill>
                  <a:srgbClr val="92D050"/>
                </a:solidFill>
              </a:rPr>
              <a:t>'].skew()</a:t>
            </a:r>
          </a:p>
          <a:p>
            <a:pPr marL="342900" indent="-342900">
              <a:buAutoNum type="arabicParenR"/>
            </a:pPr>
            <a:r>
              <a:rPr lang="en-US" sz="2000" dirty="0">
                <a:solidFill>
                  <a:srgbClr val="92D050"/>
                </a:solidFill>
              </a:rPr>
              <a:t>Visualize key insights using heatmaps, scatter plots, and boxplots. We will show you in the next slide.</a:t>
            </a:r>
          </a:p>
          <a:p>
            <a:endParaRPr lang="en-US" sz="2000" dirty="0">
              <a:solidFill>
                <a:srgbClr val="92D050"/>
              </a:solidFill>
            </a:endParaRPr>
          </a:p>
        </p:txBody>
      </p:sp>
    </p:spTree>
    <p:extLst>
      <p:ext uri="{BB962C8B-B14F-4D97-AF65-F5344CB8AC3E}">
        <p14:creationId xmlns:p14="http://schemas.microsoft.com/office/powerpoint/2010/main" val="105018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124A-F7F9-E0B7-C1C4-68DCACA3C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B5657-6C02-9EF5-7E02-682FC55F9EDE}"/>
              </a:ext>
            </a:extLst>
          </p:cNvPr>
          <p:cNvSpPr>
            <a:spLocks noGrp="1"/>
          </p:cNvSpPr>
          <p:nvPr>
            <p:ph type="ctrTitle"/>
          </p:nvPr>
        </p:nvSpPr>
        <p:spPr>
          <a:xfrm>
            <a:off x="-627322" y="2052003"/>
            <a:ext cx="12192000" cy="1376997"/>
          </a:xfrm>
        </p:spPr>
        <p:txBody>
          <a:bodyPr>
            <a:normAutofit fontScale="90000"/>
          </a:bodyPr>
          <a:lstStyle/>
          <a:p>
            <a:pPr algn="ctr"/>
            <a:r>
              <a:rPr lang="en-US" sz="5600" b="1" dirty="0">
                <a:solidFill>
                  <a:srgbClr val="FFC000"/>
                </a:solidFill>
              </a:rPr>
              <a:t>Visualization through graphs.</a:t>
            </a:r>
            <a:br>
              <a:rPr lang="en-US" sz="1400" dirty="0"/>
            </a:br>
            <a:r>
              <a:rPr lang="en-US" sz="5600" b="1" dirty="0">
                <a:solidFill>
                  <a:srgbClr val="FFC000"/>
                </a:solidFill>
              </a:rPr>
              <a:t>.</a:t>
            </a:r>
            <a:br>
              <a:rPr lang="en-US" sz="5600" b="1" dirty="0">
                <a:solidFill>
                  <a:srgbClr val="FFC000"/>
                </a:solidFill>
              </a:rPr>
            </a:br>
            <a:r>
              <a:rPr lang="en-US" sz="5600" b="1" dirty="0">
                <a:solidFill>
                  <a:srgbClr val="FFC000"/>
                </a:solidFill>
              </a:rPr>
              <a:t>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EF656D88-7115-ED9C-418A-6F5059066845}"/>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pic>
        <p:nvPicPr>
          <p:cNvPr id="8" name="Picture 7">
            <a:extLst>
              <a:ext uri="{FF2B5EF4-FFF2-40B4-BE49-F238E27FC236}">
                <a16:creationId xmlns:a16="http://schemas.microsoft.com/office/drawing/2014/main" id="{1CB79825-BF9C-82B9-28D7-37E5E3ACC8B6}"/>
              </a:ext>
            </a:extLst>
          </p:cNvPr>
          <p:cNvPicPr>
            <a:picLocks noChangeAspect="1"/>
          </p:cNvPicPr>
          <p:nvPr/>
        </p:nvPicPr>
        <p:blipFill>
          <a:blip r:embed="rId2"/>
          <a:stretch>
            <a:fillRect/>
          </a:stretch>
        </p:blipFill>
        <p:spPr>
          <a:xfrm>
            <a:off x="0" y="1523055"/>
            <a:ext cx="12192000" cy="4045806"/>
          </a:xfrm>
          <a:prstGeom prst="rect">
            <a:avLst/>
          </a:prstGeom>
        </p:spPr>
      </p:pic>
    </p:spTree>
    <p:extLst>
      <p:ext uri="{BB962C8B-B14F-4D97-AF65-F5344CB8AC3E}">
        <p14:creationId xmlns:p14="http://schemas.microsoft.com/office/powerpoint/2010/main" val="172951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5A8C-5D0D-E85F-FDA4-D1621DA5A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FAF25-E276-96BF-0CA6-BDEBD047785E}"/>
              </a:ext>
            </a:extLst>
          </p:cNvPr>
          <p:cNvSpPr>
            <a:spLocks noGrp="1"/>
          </p:cNvSpPr>
          <p:nvPr>
            <p:ph type="ctrTitle"/>
          </p:nvPr>
        </p:nvSpPr>
        <p:spPr>
          <a:xfrm>
            <a:off x="-595424" y="2094296"/>
            <a:ext cx="12192000" cy="1376997"/>
          </a:xfrm>
        </p:spPr>
        <p:txBody>
          <a:bodyPr>
            <a:normAutofit fontScale="90000"/>
          </a:bodyPr>
          <a:lstStyle/>
          <a:p>
            <a:pPr algn="ctr"/>
            <a:r>
              <a:rPr lang="en-US" sz="5600" b="1" dirty="0">
                <a:solidFill>
                  <a:srgbClr val="FFC000"/>
                </a:solidFill>
              </a:rPr>
              <a:t>Visualization through graphs.</a:t>
            </a:r>
            <a:br>
              <a:rPr lang="en-US" sz="1400" dirty="0"/>
            </a:br>
            <a:r>
              <a:rPr lang="en-US" sz="5600" b="1" dirty="0">
                <a:solidFill>
                  <a:srgbClr val="FFC000"/>
                </a:solidFill>
              </a:rPr>
              <a:t>.</a:t>
            </a:r>
            <a:br>
              <a:rPr lang="en-US" sz="5600" b="1" dirty="0">
                <a:solidFill>
                  <a:srgbClr val="FFC000"/>
                </a:solidFill>
              </a:rPr>
            </a:br>
            <a:r>
              <a:rPr lang="en-US" sz="5600" b="1" dirty="0">
                <a:solidFill>
                  <a:srgbClr val="FFC000"/>
                </a:solidFill>
              </a:rPr>
              <a:t>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D563BC61-6687-A7CD-38C5-A7EA26BE1701}"/>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pic>
        <p:nvPicPr>
          <p:cNvPr id="5" name="Picture 4">
            <a:extLst>
              <a:ext uri="{FF2B5EF4-FFF2-40B4-BE49-F238E27FC236}">
                <a16:creationId xmlns:a16="http://schemas.microsoft.com/office/drawing/2014/main" id="{37A5F4A7-8514-23E1-7801-5E09738722AE}"/>
              </a:ext>
            </a:extLst>
          </p:cNvPr>
          <p:cNvPicPr>
            <a:picLocks noChangeAspect="1"/>
          </p:cNvPicPr>
          <p:nvPr/>
        </p:nvPicPr>
        <p:blipFill>
          <a:blip r:embed="rId2"/>
          <a:stretch>
            <a:fillRect/>
          </a:stretch>
        </p:blipFill>
        <p:spPr>
          <a:xfrm>
            <a:off x="315434" y="1435393"/>
            <a:ext cx="5592725" cy="4720857"/>
          </a:xfrm>
          <a:prstGeom prst="rect">
            <a:avLst/>
          </a:prstGeom>
        </p:spPr>
      </p:pic>
      <p:pic>
        <p:nvPicPr>
          <p:cNvPr id="7" name="Picture 6">
            <a:extLst>
              <a:ext uri="{FF2B5EF4-FFF2-40B4-BE49-F238E27FC236}">
                <a16:creationId xmlns:a16="http://schemas.microsoft.com/office/drawing/2014/main" id="{1BDF68EF-1D3F-0DA8-3771-2D00B78D12C8}"/>
              </a:ext>
            </a:extLst>
          </p:cNvPr>
          <p:cNvPicPr>
            <a:picLocks noChangeAspect="1"/>
          </p:cNvPicPr>
          <p:nvPr/>
        </p:nvPicPr>
        <p:blipFill>
          <a:blip r:embed="rId3"/>
          <a:stretch>
            <a:fillRect/>
          </a:stretch>
        </p:blipFill>
        <p:spPr>
          <a:xfrm>
            <a:off x="6432697" y="1435394"/>
            <a:ext cx="5443869" cy="4720857"/>
          </a:xfrm>
          <a:prstGeom prst="rect">
            <a:avLst/>
          </a:prstGeom>
        </p:spPr>
      </p:pic>
    </p:spTree>
    <p:extLst>
      <p:ext uri="{BB962C8B-B14F-4D97-AF65-F5344CB8AC3E}">
        <p14:creationId xmlns:p14="http://schemas.microsoft.com/office/powerpoint/2010/main" val="3285178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018D3-AA36-C316-51ED-FFDE315EE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9D76B-9B68-08EC-D04E-0BB3CD3E185F}"/>
              </a:ext>
            </a:extLst>
          </p:cNvPr>
          <p:cNvSpPr>
            <a:spLocks noGrp="1"/>
          </p:cNvSpPr>
          <p:nvPr>
            <p:ph type="ctrTitle"/>
          </p:nvPr>
        </p:nvSpPr>
        <p:spPr>
          <a:xfrm>
            <a:off x="-595424" y="2094296"/>
            <a:ext cx="12192000" cy="1376997"/>
          </a:xfrm>
        </p:spPr>
        <p:txBody>
          <a:bodyPr>
            <a:normAutofit fontScale="90000"/>
          </a:bodyPr>
          <a:lstStyle/>
          <a:p>
            <a:pPr algn="ctr"/>
            <a:r>
              <a:rPr lang="en-US" sz="5600" b="1" dirty="0">
                <a:solidFill>
                  <a:srgbClr val="FFC000"/>
                </a:solidFill>
              </a:rPr>
              <a:t>Visualization through graphs.</a:t>
            </a:r>
            <a:br>
              <a:rPr lang="en-US" sz="1400" dirty="0"/>
            </a:br>
            <a:r>
              <a:rPr lang="en-US" sz="5600" b="1" dirty="0">
                <a:solidFill>
                  <a:srgbClr val="FFC000"/>
                </a:solidFill>
              </a:rPr>
              <a:t>.</a:t>
            </a:r>
            <a:br>
              <a:rPr lang="en-US" sz="5600" b="1" dirty="0">
                <a:solidFill>
                  <a:srgbClr val="FFC000"/>
                </a:solidFill>
              </a:rPr>
            </a:br>
            <a:r>
              <a:rPr lang="en-US" sz="5600" b="1" dirty="0">
                <a:solidFill>
                  <a:srgbClr val="FFC000"/>
                </a:solidFill>
              </a:rPr>
              <a:t>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F3B71A2E-92ED-8EAB-C74F-428CF759BF52}"/>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pic>
        <p:nvPicPr>
          <p:cNvPr id="6" name="Picture 5">
            <a:extLst>
              <a:ext uri="{FF2B5EF4-FFF2-40B4-BE49-F238E27FC236}">
                <a16:creationId xmlns:a16="http://schemas.microsoft.com/office/drawing/2014/main" id="{E2FBB2DC-FEAF-B817-5EA1-611BDD3033A9}"/>
              </a:ext>
            </a:extLst>
          </p:cNvPr>
          <p:cNvPicPr>
            <a:picLocks noChangeAspect="1"/>
          </p:cNvPicPr>
          <p:nvPr/>
        </p:nvPicPr>
        <p:blipFill>
          <a:blip r:embed="rId2"/>
          <a:stretch>
            <a:fillRect/>
          </a:stretch>
        </p:blipFill>
        <p:spPr>
          <a:xfrm>
            <a:off x="1085850" y="1435395"/>
            <a:ext cx="10020300" cy="5351167"/>
          </a:xfrm>
          <a:prstGeom prst="rect">
            <a:avLst/>
          </a:prstGeom>
        </p:spPr>
      </p:pic>
    </p:spTree>
    <p:extLst>
      <p:ext uri="{BB962C8B-B14F-4D97-AF65-F5344CB8AC3E}">
        <p14:creationId xmlns:p14="http://schemas.microsoft.com/office/powerpoint/2010/main" val="1967906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CEEBC-5DAE-372E-6237-8F920D70B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487F6-CEF4-EE9D-D38A-4F96632936CC}"/>
              </a:ext>
            </a:extLst>
          </p:cNvPr>
          <p:cNvSpPr>
            <a:spLocks noGrp="1"/>
          </p:cNvSpPr>
          <p:nvPr>
            <p:ph type="ctrTitle"/>
          </p:nvPr>
        </p:nvSpPr>
        <p:spPr>
          <a:xfrm>
            <a:off x="-233917" y="3277486"/>
            <a:ext cx="12192000" cy="1663758"/>
          </a:xfrm>
        </p:spPr>
        <p:txBody>
          <a:bodyPr>
            <a:normAutofit fontScale="90000"/>
          </a:bodyPr>
          <a:lstStyle/>
          <a:p>
            <a:pPr algn="ctr"/>
            <a:br>
              <a:rPr lang="en-US" sz="5600" b="1" dirty="0">
                <a:solidFill>
                  <a:srgbClr val="FFC000"/>
                </a:solidFill>
              </a:rPr>
            </a:br>
            <a:br>
              <a:rPr lang="en-US" sz="5600" b="1" dirty="0">
                <a:solidFill>
                  <a:srgbClr val="FFC000"/>
                </a:solidFill>
              </a:rPr>
            </a:br>
            <a:br>
              <a:rPr lang="en-US" sz="5600" b="1" dirty="0">
                <a:solidFill>
                  <a:srgbClr val="FFC000"/>
                </a:solidFill>
              </a:rPr>
            </a:br>
            <a:br>
              <a:rPr lang="en-US" sz="5600" b="1" dirty="0">
                <a:solidFill>
                  <a:srgbClr val="FFC000"/>
                </a:solidFill>
              </a:rPr>
            </a:br>
            <a:r>
              <a:rPr lang="en-US" sz="8900" b="1" dirty="0">
                <a:solidFill>
                  <a:srgbClr val="FFC000"/>
                </a:solidFill>
              </a:rPr>
              <a:t>Thanks for watching…..</a:t>
            </a:r>
            <a:br>
              <a:rPr lang="en-US" sz="5600" b="1" dirty="0">
                <a:solidFill>
                  <a:srgbClr val="FFC000"/>
                </a:solidFill>
              </a:rPr>
            </a:br>
            <a:r>
              <a:rPr lang="en-US" sz="5600" b="1" dirty="0">
                <a:solidFill>
                  <a:srgbClr val="FFC000"/>
                </a:solidFill>
              </a:rPr>
              <a:t> </a:t>
            </a:r>
            <a:br>
              <a:rPr lang="en-US" sz="7200" b="1" dirty="0">
                <a:solidFill>
                  <a:srgbClr val="00B0F0"/>
                </a:solidFill>
              </a:rPr>
            </a:br>
            <a:endParaRPr lang="en-IN" b="1" dirty="0">
              <a:solidFill>
                <a:srgbClr val="FFC000"/>
              </a:solidFill>
            </a:endParaRPr>
          </a:p>
        </p:txBody>
      </p:sp>
      <p:sp>
        <p:nvSpPr>
          <p:cNvPr id="4" name="Title 1">
            <a:extLst>
              <a:ext uri="{FF2B5EF4-FFF2-40B4-BE49-F238E27FC236}">
                <a16:creationId xmlns:a16="http://schemas.microsoft.com/office/drawing/2014/main" id="{9C69D585-F7F6-A9A6-9F4B-2CE72F2B681C}"/>
              </a:ext>
            </a:extLst>
          </p:cNvPr>
          <p:cNvSpPr txBox="1">
            <a:spLocks/>
          </p:cNvSpPr>
          <p:nvPr/>
        </p:nvSpPr>
        <p:spPr>
          <a:xfrm>
            <a:off x="0" y="2062479"/>
            <a:ext cx="12192000" cy="40937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sz="4500" b="1" dirty="0">
              <a:solidFill>
                <a:srgbClr val="00B0F0"/>
              </a:solidFill>
            </a:endParaRPr>
          </a:p>
        </p:txBody>
      </p:sp>
    </p:spTree>
    <p:extLst>
      <p:ext uri="{BB962C8B-B14F-4D97-AF65-F5344CB8AC3E}">
        <p14:creationId xmlns:p14="http://schemas.microsoft.com/office/powerpoint/2010/main" val="21644343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70</TotalTime>
  <Words>517</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Century Gothic</vt:lpstr>
      <vt:lpstr>Wingdings</vt:lpstr>
      <vt:lpstr>Wingdings 3</vt:lpstr>
      <vt:lpstr>Ion</vt:lpstr>
      <vt:lpstr>Data Harmonization  and Insights Extraction</vt:lpstr>
      <vt:lpstr>Index</vt:lpstr>
      <vt:lpstr>The project overview and objectives.  </vt:lpstr>
      <vt:lpstr>Data wrangling and cleaning steps.   </vt:lpstr>
      <vt:lpstr>Insights and findings from the dataset .   </vt:lpstr>
      <vt:lpstr>Visualization through graphs. .   </vt:lpstr>
      <vt:lpstr>Visualization through graphs. .   </vt:lpstr>
      <vt:lpstr>Visualization through graphs. .   </vt:lpstr>
      <vt:lpstr>    Thanks for watching…..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7</cp:revision>
  <dcterms:created xsi:type="dcterms:W3CDTF">2025-01-13T04:00:49Z</dcterms:created>
  <dcterms:modified xsi:type="dcterms:W3CDTF">2025-01-13T05:11:19Z</dcterms:modified>
</cp:coreProperties>
</file>